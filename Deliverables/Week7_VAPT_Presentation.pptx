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3749039" cy="6693408"/>
          </a:xfrm>
          <a:prstGeom prst="rect">
            <a:avLst/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2743200" cy="12801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WEEK 7</a:t>
            </a:r>
          </a:p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VAPT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3200"/>
            <a:ext cx="2697480" cy="1371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B4DCEB"/>
                </a:solidFill>
                <a:latin typeface="Aptos"/>
              </a:defRPr>
            </a:pPr>
            <a:r>
              <a:t>WEB APPLICATION TESTING</a:t>
            </a:r>
          </a:p>
          <a:p>
            <a:pPr>
              <a:spcAft>
                <a:spcPts val="600"/>
              </a:spcAft>
              <a:defRPr sz="1700" b="1">
                <a:solidFill>
                  <a:srgbClr val="B4DCEB"/>
                </a:solidFill>
                <a:latin typeface="Aptos"/>
              </a:defRPr>
            </a:pPr>
            <a:r>
              <a:t>WITH BURP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417320"/>
            <a:ext cx="7040880" cy="7315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0233F"/>
                </a:solidFill>
                <a:latin typeface="Aptos"/>
              </a:defRPr>
            </a:pPr>
            <a:r>
              <a:t>Vulnerability Assessment &amp; Penetration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331720"/>
            <a:ext cx="6675120" cy="6400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5B99"/>
                </a:solidFill>
                <a:latin typeface="Aptos"/>
              </a:defRPr>
            </a:pPr>
            <a:r>
              <a:t>Prepared by Krushna Chandak | DG Interns 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246120"/>
            <a:ext cx="6812280" cy="114300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3355848"/>
            <a:ext cx="648309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68C8C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3749039"/>
            <a:ext cx="6483096" cy="5394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Damn Vulnerable Web Application (DVWA)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Local host: 127.0.0.1:8081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572000"/>
            <a:ext cx="6812280" cy="96012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681728"/>
            <a:ext cx="648309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99A36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5074920"/>
            <a:ext cx="6483096" cy="35661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Controlled training lab only — no production or third-party systems tested.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5806440"/>
            <a:ext cx="685800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36477"/>
                </a:solidFill>
                <a:latin typeface="Aptos"/>
              </a:defRPr>
            </a:pPr>
            <a:r>
              <a:t>October 2026 | Burp Suite Community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0233F"/>
                </a:solidFill>
                <a:latin typeface="Aptos"/>
              </a:defRPr>
            </a:pPr>
            <a:r>
              <a:t>1. Scope, Goals and Testing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88136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36477"/>
                </a:solidFill>
                <a:latin typeface="Aptos"/>
              </a:defRPr>
            </a:pPr>
            <a:r>
              <a:t>A controlled assessment of the local intentionally vulnerable DVWA instance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36477"/>
                </a:solidFill>
                <a:latin typeface="Aptos"/>
              </a:defRPr>
            </a:pPr>
            <a:r>
              <a:t>DG Interns Hub | Week 7 VAPT | Local DVWA lab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3647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3474720" cy="1874519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81328"/>
            <a:ext cx="314553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5B99"/>
                </a:solidFill>
                <a:latin typeface="Aptos"/>
              </a:defRPr>
            </a:pPr>
            <a:r>
              <a:t>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74519"/>
            <a:ext cx="3145536" cy="127101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Intercept HTTP/HTTPS traffic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Map routes and parameters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Test inputs in Repeater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Capture reproducible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474720" cy="1874519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481328"/>
            <a:ext cx="314553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5B99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874519"/>
            <a:ext cx="3145536" cy="127101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Burp Proxy / Target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Repeater and Intruder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Firefox browser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Python path checker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74720" cy="1874519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81328"/>
            <a:ext cx="314553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5B99"/>
                </a:solidFill>
                <a:latin typeface="Aptos"/>
              </a:defRPr>
            </a:pPr>
            <a:r>
              <a:t>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874519"/>
            <a:ext cx="3145536" cy="127101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Target: 127.0.0.1:8081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14 predefined paths checked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Low-security DVWA modules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No external targets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49039"/>
            <a:ext cx="1078992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168C8C"/>
                </a:solidFill>
                <a:latin typeface="Aptos"/>
              </a:defRPr>
            </a:pPr>
            <a:r>
              <a:t>Workflow: Intercept → Map → Modify one input → Compare response → Validate behavior → Document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43247"/>
                </a:solidFill>
                <a:latin typeface="Aptos"/>
              </a:defRPr>
            </a:pPr>
            <a:r>
              <a:t>Evidence rule: a route, status code, redirect, or response-length difference is not automatically a vulnerability. Confirm behavior and state limitations explicitly.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0233F"/>
                </a:solidFill>
                <a:latin typeface="Aptos"/>
              </a:defRPr>
            </a:pPr>
            <a:r>
              <a:t>2. Burp Setup and Application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88136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36477"/>
                </a:solidFill>
                <a:latin typeface="Aptos"/>
              </a:defRPr>
            </a:pPr>
            <a:r>
              <a:t>Proxy configuration and endpoint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36477"/>
                </a:solidFill>
                <a:latin typeface="Aptos"/>
              </a:defRPr>
            </a:pPr>
            <a:r>
              <a:t>DG Interns Hub | Week 7 VAPT | Local DVWA lab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3647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03520" cy="196596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497433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68C8C"/>
                </a:solidFill>
                <a:latin typeface="Aptos"/>
              </a:defRPr>
            </a:pPr>
            <a:r>
              <a:t>PROXY 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28800"/>
            <a:ext cx="4974336" cy="136245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Listener: 127.0.0.1:8080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Firefox HTTP/HTTPS proxy enabled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Existing PortSwigger CA already trusted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HTTPS and DVWA HTTP traffic intercepted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303520" cy="196596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35607"/>
            <a:ext cx="497433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5B99"/>
                </a:solidFill>
                <a:latin typeface="Aptos"/>
              </a:defRPr>
            </a:pPr>
            <a:r>
              <a:t>ROUTES OBSERVED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828800"/>
            <a:ext cx="4974336" cy="136245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/login.php, /index.php, /logout.php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/security.php, /setup.php, /about.php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/vulnerabilities/sqli/ and /sqli_blind/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/xss_r/, /xss_s/, /exec/, /fi/, /upload/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39"/>
            <a:ext cx="10607040" cy="4114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233F"/>
                </a:solidFill>
                <a:latin typeface="Aptos"/>
              </a:defRPr>
            </a:pPr>
            <a:r>
              <a:t>Examples of mapped parameters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251960"/>
            <a:ext cx="3429000" cy="118872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361688"/>
            <a:ext cx="309981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5B99"/>
                </a:solidFill>
                <a:latin typeface="Aptos"/>
              </a:defRPr>
            </a:pPr>
            <a:r>
              <a:t>SQLi 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754880"/>
            <a:ext cx="3099816" cy="58521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id, Submit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251960"/>
            <a:ext cx="3429000" cy="118872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4361688"/>
            <a:ext cx="309981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68C8C"/>
                </a:solidFill>
                <a:latin typeface="Aptos"/>
              </a:defRPr>
            </a:pPr>
            <a:r>
              <a:t>Reflected XSS 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4754880"/>
            <a:ext cx="3099816" cy="58521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name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251960"/>
            <a:ext cx="3429000" cy="118872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4361688"/>
            <a:ext cx="309981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99A36"/>
                </a:solidFill>
                <a:latin typeface="Aptos"/>
              </a:defRPr>
            </a:pPr>
            <a:r>
              <a:t>Stored XSS 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4754880"/>
            <a:ext cx="3099816" cy="58521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txtName, mtxMessage, btnSign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0233F"/>
                </a:solidFill>
                <a:latin typeface="Aptos"/>
              </a:defRPr>
            </a:pPr>
            <a:r>
              <a:t>3. Finding 1 — SQL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88136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36477"/>
                </a:solidFill>
                <a:latin typeface="Aptos"/>
              </a:defRPr>
            </a:pPr>
            <a:r>
              <a:t>Confirmed in local DVWA low-security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36477"/>
                </a:solidFill>
                <a:latin typeface="Aptos"/>
              </a:defRPr>
            </a:pPr>
            <a:r>
              <a:t>DG Interns Hub | Week 7 VAPT | Local DVWA lab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3647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03520" cy="182880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497433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5B99"/>
                </a:solidFill>
                <a:latin typeface="Aptos"/>
              </a:defRPr>
            </a:pPr>
            <a:r>
              <a:t>WHAT WAS OBSERVED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28800"/>
            <a:ext cx="4974336" cy="122529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Quote-based input caused a SQL syntax error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Boolean-style input changed the result set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Multiple records, including admin, were returned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303520" cy="182880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35607"/>
            <a:ext cx="497433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99A3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828800"/>
            <a:ext cx="4974336" cy="122529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If present in a real application, unsafe query construction may allow query logic manipulation or unintended data access. Real impact depends on query design and database privileges.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66160"/>
            <a:ext cx="1051560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0233F"/>
                </a:solidFill>
                <a:latin typeface="Aptos"/>
              </a:defRPr>
            </a:pPr>
            <a:r>
              <a:t>Reproduction outline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332720" cy="9144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Capture GET /vulnerabilities/sqli/ → send to Repeater → record baseline id=1 → test malformed input → compare the response with the Boolean-style test.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074920"/>
            <a:ext cx="10469880" cy="77724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184648"/>
            <a:ext cx="1014069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68C8C"/>
                </a:solidFill>
                <a:latin typeface="Aptos"/>
              </a:defRPr>
            </a:pPr>
            <a:r>
              <a:t>REMEDIATION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577840"/>
            <a:ext cx="10140696" cy="17373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Use prepared statements, least-privilege database accounts, safe error handling and regression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0233F"/>
                </a:solidFill>
                <a:latin typeface="Aptos"/>
              </a:defRPr>
            </a:pPr>
            <a:r>
              <a:t>4. Finding 2 — Reflected XSS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88136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36477"/>
                </a:solidFill>
                <a:latin typeface="Aptos"/>
              </a:defRPr>
            </a:pPr>
            <a:r>
              <a:t>Confirmed by response inspection and browser alert in local DVWA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36477"/>
                </a:solidFill>
                <a:latin typeface="Aptos"/>
              </a:defRPr>
            </a:pPr>
            <a:r>
              <a:t>DG Interns Hub | Week 7 VAPT | Local DVWA lab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3647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03520" cy="182880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497433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5B99"/>
                </a:solidFill>
                <a:latin typeface="Aptos"/>
              </a:defRPr>
            </a:pPr>
            <a:r>
              <a:t>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28800"/>
            <a:ext cx="4974336" cy="122529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GET parameter: name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Supplied script was reflected unsafely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Browser executed the harmless alert proof-of-concept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303520" cy="182880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35607"/>
            <a:ext cx="497433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99A36"/>
                </a:solidFill>
                <a:latin typeface="Aptos"/>
              </a:defRPr>
            </a:pPr>
            <a:r>
              <a:t>POTENTIAL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828800"/>
            <a:ext cx="4974336" cy="122529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A victim following a crafted request could execute attacker-controlled script in the site origin. Impact depends on victim privileges, application behavior and browser controls.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66160"/>
            <a:ext cx="1042416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43247"/>
                </a:solidFill>
                <a:latin typeface="Aptos"/>
              </a:defRPr>
            </a:pPr>
            <a:r>
              <a:t>Validation: inspect the Burp response, then confirm the alert in the local browser.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10469880" cy="105156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544568"/>
            <a:ext cx="1014069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68C8C"/>
                </a:solidFill>
                <a:latin typeface="Aptos"/>
              </a:defRPr>
            </a:pPr>
            <a:r>
              <a:t>REMEDIATION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937759"/>
            <a:ext cx="10140696" cy="44805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Apply context-aware output encoding; use safe templating/DOM APIs; consider Content Security Policy as defense in depth.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0233F"/>
                </a:solidFill>
                <a:latin typeface="Aptos"/>
              </a:defRPr>
            </a:pPr>
            <a:r>
              <a:t>5. Finding 3 — Stored XSS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88136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36477"/>
                </a:solidFill>
                <a:latin typeface="Aptos"/>
              </a:defRPr>
            </a:pPr>
            <a:r>
              <a:t>Confirmed in the DVWA guestbook using saved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36477"/>
                </a:solidFill>
                <a:latin typeface="Aptos"/>
              </a:defRPr>
            </a:pPr>
            <a:r>
              <a:t>DG Interns Hub | Week 7 VAPT | Local DVWA lab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3647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03520" cy="1874519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497433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5B99"/>
                </a:solidFill>
                <a:latin typeface="Aptos"/>
              </a:defRPr>
            </a:pPr>
            <a:r>
              <a:t>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28800"/>
            <a:ext cx="4974336" cy="127101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POST /vulnerabilities/xss_s/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Form fields: txtName, mtxMessage, btnSign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• Guestbook entry rendered and triggered “STORED XSS SUCCESSFUL” alert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303520" cy="1874519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35607"/>
            <a:ext cx="497433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99A36"/>
                </a:solidFill>
                <a:latin typeface="Aptos"/>
              </a:defRPr>
            </a:pPr>
            <a:r>
              <a:t>WHY DISTINCT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828800"/>
            <a:ext cx="4974336" cy="127101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The payload is submitted as content and executed when stored content is rendered. It is a separate data flow from reflected XSS and can affect users who view the saved 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1042416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43247"/>
                </a:solidFill>
                <a:latin typeface="Aptos"/>
              </a:defRPr>
            </a:pPr>
            <a:r>
              <a:t>Validation: confirm alert execution and, where recorded, reload the page to verify the entry persists.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480560"/>
            <a:ext cx="10469880" cy="105156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590288"/>
            <a:ext cx="1014069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68C8C"/>
                </a:solidFill>
                <a:latin typeface="Aptos"/>
              </a:defRPr>
            </a:pPr>
            <a:r>
              <a:t>REMEDIATION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983480"/>
            <a:ext cx="10140696" cy="44805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Encode output on every rendering path; sanitize rich text with a maintained allowlist; test saved entries after reload.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0233F"/>
                </a:solidFill>
                <a:latin typeface="Aptos"/>
              </a:defRPr>
            </a:pPr>
            <a:r>
              <a:t>6. Additional Tests — Interpreted Conservatively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88136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36477"/>
                </a:solidFill>
                <a:latin typeface="Aptos"/>
              </a:defRPr>
            </a:pPr>
            <a:r>
              <a:t>Not every changed response proves a vulnerability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36477"/>
                </a:solidFill>
                <a:latin typeface="Aptos"/>
              </a:defRPr>
            </a:pPr>
            <a:r>
              <a:t>DG Interns Hub | Week 7 VAPT | Local DVWA lab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3647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3520440" cy="228600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319125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5B99"/>
                </a:solidFill>
                <a:latin typeface="Aptos"/>
              </a:defRPr>
            </a:pPr>
            <a:r>
              <a:t>PARAMETER TAMPERING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28800"/>
            <a:ext cx="3191256" cy="168249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Changing ip from 127.0.0.1 to 127.0.0.2 changed the ping target. This shows input influence, not arbitrary command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520440" cy="228600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435607"/>
            <a:ext cx="319125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68C8C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828800"/>
            <a:ext cx="3191256" cy="168249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admin/password worked in local DVWA. This is a default-credential observation, not proof of authentication bypass.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520440" cy="228600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35607"/>
            <a:ext cx="319125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99A36"/>
                </a:solidFill>
                <a:latin typeface="Aptos"/>
              </a:defRPr>
            </a:pPr>
            <a:r>
              <a:t>INTRUDER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828800"/>
            <a:ext cx="3191256" cy="168249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Two payloads produced responses with differing lengths. This demonstrates tool use, not a vulnerability by itself.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10424160" cy="7315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43247"/>
                </a:solidFill>
                <a:latin typeface="Aptos"/>
              </a:defRPr>
            </a:pPr>
            <a:r>
              <a:t>Defensive actions: avoid shell interpretation, validate input strictly, remove default credentials, and investigate behavior—not just status codes or response length.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0233F"/>
                </a:solidFill>
                <a:latin typeface="Aptos"/>
              </a:defRPr>
            </a:pPr>
            <a:r>
              <a:t>7. Directory and Endpoint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88136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36477"/>
                </a:solidFill>
                <a:latin typeface="Aptos"/>
              </a:defRPr>
            </a:pPr>
            <a:r>
              <a:t>14 predefined paths checked against the local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36477"/>
                </a:solidFill>
                <a:latin typeface="Aptos"/>
              </a:defRPr>
            </a:pPr>
            <a:r>
              <a:t>DG Interns Hub | Week 7 VAPT | Local DVWA lab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3647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3520440" cy="205740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319125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5B99"/>
                </a:solidFill>
                <a:latin typeface="Aptos"/>
              </a:defRPr>
            </a:pPr>
            <a:r>
              <a:t>HTTP 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28800"/>
            <a:ext cx="3191256" cy="145389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robots.txt, login.php, index.php, setup.php, security.php, instructions.php, about.php, phpinfo.php, config/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520440" cy="205740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435607"/>
            <a:ext cx="319125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68C8C"/>
                </a:solidFill>
                <a:latin typeface="Aptos"/>
              </a:defRPr>
            </a:pPr>
            <a:r>
              <a:t>HTTP 403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828800"/>
            <a:ext cx="3191256" cy="145389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server-status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The request was forbidden. This does not establish an exploitable weakness.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520440" cy="2057400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35607"/>
            <a:ext cx="319125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99A36"/>
                </a:solidFill>
                <a:latin typeface="Aptos"/>
              </a:defRPr>
            </a:pPr>
            <a:r>
              <a:t>HTTP 404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828800"/>
            <a:ext cx="3191256" cy="1453895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admin, api, uploads/, backup/</a:t>
            </a: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Not found in this request context.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94760"/>
            <a:ext cx="10424160" cy="8686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43247"/>
                </a:solidFill>
                <a:latin typeface="Aptos"/>
              </a:defRPr>
            </a:pPr>
            <a:r>
              <a:t>Important interpretation: robots.txt is crawler guidance, not access control. A 200 response for phpinfo.php or config/ requires content review before claiming sensitive disclosure.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0233F"/>
                </a:solidFill>
                <a:latin typeface="Aptos"/>
              </a:defRPr>
            </a:pPr>
            <a:r>
              <a:t>8. Findings Summary and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88136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36477"/>
                </a:solidFill>
                <a:latin typeface="Aptos"/>
              </a:defRPr>
            </a:pPr>
            <a:r>
              <a:t>Three confirmed demonstrations in local DVWA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36477"/>
                </a:solidFill>
                <a:latin typeface="Aptos"/>
              </a:defRPr>
            </a:pPr>
            <a:r>
              <a:t>DG Interns Hub | Week 7 VAPT | Local DVWA lab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3647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2743200" cy="987552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35607"/>
            <a:ext cx="241401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5B99"/>
                </a:solidFill>
                <a:latin typeface="Aptos"/>
              </a:defRPr>
            </a:pPr>
            <a:r>
              <a:t>SQL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28800"/>
            <a:ext cx="2414016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657600" y="1399032"/>
            <a:ext cx="3657600" cy="7772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SQL error + Boolean-style result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399032"/>
            <a:ext cx="3794760" cy="7772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F5B99"/>
                </a:solidFill>
                <a:latin typeface="Aptos"/>
              </a:defRPr>
            </a:pPr>
            <a:r>
              <a:t>Prepared statements; least privilege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51760"/>
            <a:ext cx="2743200" cy="987552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761488"/>
            <a:ext cx="241401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68C8C"/>
                </a:solidFill>
                <a:latin typeface="Aptos"/>
              </a:defRPr>
            </a:pPr>
            <a:r>
              <a:t>Reflected XSS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154680"/>
            <a:ext cx="2414016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3657600" y="2724912"/>
            <a:ext cx="3657600" cy="7772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Unsafely reflected input executed in 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724912"/>
            <a:ext cx="3794760" cy="7772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F5B99"/>
                </a:solidFill>
                <a:latin typeface="Aptos"/>
              </a:defRPr>
            </a:pPr>
            <a:r>
              <a:t>Context-aware output encoding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77639"/>
            <a:ext cx="2743200" cy="987552"/>
          </a:xfrm>
          <a:prstGeom prst="roundRect">
            <a:avLst/>
          </a:prstGeom>
          <a:solidFill>
            <a:srgbClr val="EBF2F9"/>
          </a:solidFill>
          <a:ln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087368"/>
            <a:ext cx="2414016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99A36"/>
                </a:solidFill>
                <a:latin typeface="Aptos"/>
              </a:defRPr>
            </a:pPr>
            <a:r>
              <a:t>Stored XSS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480559"/>
            <a:ext cx="2414016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3657600" y="4050791"/>
            <a:ext cx="3657600" cy="7772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3247"/>
                </a:solidFill>
                <a:latin typeface="Aptos"/>
              </a:defRPr>
            </a:pPr>
            <a:r>
              <a:t>Stored guestbook content triggered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050791"/>
            <a:ext cx="3794760" cy="7772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F5B99"/>
                </a:solidFill>
                <a:latin typeface="Aptos"/>
              </a:defRPr>
            </a:pPr>
            <a:r>
              <a:t>Encode/sanitize stored content at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86400"/>
            <a:ext cx="10424160" cy="4114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0233F"/>
                </a:solidFill>
                <a:latin typeface="Aptos"/>
              </a:defRPr>
            </a:pPr>
            <a:r>
              <a:t>Retest after remediation and redact cookies/tokens before sharing screenshots.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